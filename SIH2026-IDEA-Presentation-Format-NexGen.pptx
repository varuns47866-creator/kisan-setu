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600" b="1">
                <a:solidFill>
                  <a:srgbClr val="0F4C2A"/>
                </a:solidFill>
                <a:latin typeface="Arial"/>
              </a:rPr>
              <a:t>KISAN SETU (किसान सेतु)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300" b="0">
                <a:solidFill>
                  <a:srgbClr val="4A5568"/>
                </a:solidFill>
                <a:latin typeface="Calibri"/>
              </a:rPr>
              <a:t>AI-Driven Direct Farm-to-Market Supply Chain &amp; Fair Price Settlement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Problem Statement ID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26033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Problem Statement Title –</a:t>
            </a:r>
            <a:r>
              <a:rPr sz="1300" b="1">
                <a:solidFill>
                  <a:srgbClr val="BE123C"/>
                </a:solidFill>
                <a:latin typeface="Calibri"/>
              </a:rPr>
              <a:t> Multiple intermediaries reduce farmers earnings and increase consumer prices.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Theme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Agriculture, FoodTech &amp; Rural Development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PS Category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Team Name –</a:t>
            </a:r>
            <a:r>
              <a:rPr sz="1300" b="1">
                <a:solidFill>
                  <a:srgbClr val="B45309"/>
                </a:solidFill>
                <a:latin typeface="Calibri"/>
              </a:rPr>
              <a:t> NexGen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4C2A"/>
                </a:solidFill>
                <a:latin typeface="Arial"/>
              </a:rPr>
              <a:t>Target Impact –</a:t>
            </a:r>
            <a:r>
              <a:rPr sz="1300" b="0">
                <a:solidFill>
                  <a:srgbClr val="1A202C"/>
                </a:solidFill>
                <a:latin typeface="Calibri"/>
              </a:rPr>
              <a:t> 75%–85% Direct Farmer Payout | Multimodal AI Quality Assaying | 22kg Spoilage Prevented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sih_skill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65760"/>
            <a:ext cx="5303520" cy="14097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IDEA: KISAN SETU — DIRECT FPO-TO-BUYER MARKETPLACE WITH MULTIMODAL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88720"/>
            <a:ext cx="109728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050" b="1">
                <a:solidFill>
                  <a:srgbClr val="166534"/>
                </a:solidFill>
                <a:latin typeface="Arial"/>
              </a:rPr>
              <a:t>• Proposed Solution (Idea/Prototype): </a:t>
            </a:r>
            <a:r>
              <a:rPr sz="1050" b="0">
                <a:solidFill>
                  <a:srgbClr val="1A202C"/>
                </a:solidFill>
                <a:latin typeface="Calibri"/>
              </a:rPr>
              <a:t>Kisan Setu by Team NexGen connects Farmer Producer Organizations (FPOs) directly with commercial buyers (supermarkets, kitchens), eliminating 4–7 intermediary markup tiers.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How It Addresses PS 26033: </a:t>
            </a:r>
            <a:r>
              <a:rPr sz="1050" b="0">
                <a:solidFill>
                  <a:srgbClr val="1A202C"/>
                </a:solidFill>
                <a:latin typeface="Calibri"/>
              </a:rPr>
              <a:t>Directly resolves high consumer prices and low farmer earnings by shifting farmer value realization from 25%–35% up to 75%–85%, with 100% price transparency visible on every lot.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Innovation &amp; Uniqueness: </a:t>
            </a:r>
            <a:r>
              <a:rPr sz="1050" b="0">
                <a:solidFill>
                  <a:srgbClr val="1A202C"/>
                </a:solidFill>
                <a:latin typeface="Calibri"/>
              </a:rPr>
              <a:t>Google Gemini Multimodal AI Vision for instant harvest grading (Ripeness %, Firmness, Grade A) + Multilingual Ask Kisan AI Copilot + Pooled Milk-Run Logistics.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NexGen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lide2_problem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91840"/>
            <a:ext cx="10789920" cy="4058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TECHNICAL APPROACH &amp; MULTIMODAL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9728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050" b="1">
                <a:solidFill>
                  <a:srgbClr val="166534"/>
                </a:solidFill>
                <a:latin typeface="Arial"/>
              </a:rPr>
              <a:t>• Technologies Used: </a:t>
            </a:r>
            <a:r>
              <a:rPr sz="1050" b="0">
                <a:solidFill>
                  <a:srgbClr val="1A202C"/>
                </a:solidFill>
                <a:latin typeface="Calibri"/>
              </a:rPr>
              <a:t>HTML5 Camera API, Vanilla JS (ES Modules), Vite 7, Node.js + Express 5 REST API, Google Gemini Vision (gemini-3.6-flash), Leaflet.js + OpenStreetMap (OSM) &amp; Esri Satellite, Render Cloud.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Implementation Methodology: </a:t>
            </a:r>
            <a:r>
              <a:rPr sz="1050" b="0">
                <a:solidFill>
                  <a:srgbClr val="1A202C"/>
                </a:solidFill>
                <a:latin typeface="Calibri"/>
              </a:rPr>
              <a:t>Farmer Camera Snap ➔ Gemini AI Multi-metric Grade A Certification ➔ Real-time Marketplace Listing ➔ B2B Transparent Order ➔ Pooled Milk-Run GPS Route Execution ➔ Direct Payout Release.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NexGen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3_technical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91840"/>
            <a:ext cx="10789920" cy="40585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FEASIBILITY, RISK ANALYSIS &amp; MITIGATION STRATEGIES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6070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0F4C2A"/>
                </a:solidFill>
                <a:latin typeface="Arial"/>
              </a:rPr>
              <a:t>1. Feasibility &amp; Operational Viability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Technical Feasibility: </a:t>
            </a:r>
            <a:r>
              <a:rPr sz="1000" b="0">
                <a:solidFill>
                  <a:srgbClr val="1A202C"/>
                </a:solidFill>
                <a:latin typeface="Calibri"/>
              </a:rPr>
              <a:t>Fully operational working prototype deployed on Render. Zero-install web architecture running on standard Android 4G/5G mobile browsers with native camera access.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Economic &amp; Commercial Viability: </a:t>
            </a:r>
            <a:r>
              <a:rPr sz="1000" b="0">
                <a:solidFill>
                  <a:srgbClr val="1A202C"/>
                </a:solidFill>
                <a:latin typeface="Calibri"/>
              </a:rPr>
              <a:t>Self-sustaining unit economics. A minimal 4%–5% platform facilitation fee covers QC and cloud costs while delivering 75%–85% payout to farmers (vs 25%–35% in traditional mandis) and 15% net savings to commercial buyers.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Operational Viability: </a:t>
            </a:r>
            <a:r>
              <a:rPr sz="1000" b="0">
                <a:solidFill>
                  <a:srgbClr val="1A202C"/>
                </a:solidFill>
                <a:latin typeface="Calibri"/>
              </a:rPr>
              <a:t>Leverages existing cluster networks of FPOs in peri-urban corridors (Sonipat, Panipat, Gurugram) with Singhu/Kundli micro-fulfillment hubs.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0F4C2A"/>
                </a:solidFill>
                <a:latin typeface="Arial"/>
              </a:rPr>
              <a:t>2. Potential Challenges, Risks &amp; Mitigation Strategies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Digital &amp; Tech Literacy Barrier: </a:t>
            </a:r>
            <a:r>
              <a:rPr sz="1000" b="0">
                <a:solidFill>
                  <a:srgbClr val="1A202C"/>
                </a:solidFill>
                <a:latin typeface="Calibri"/>
              </a:rPr>
              <a:t>Risk: Rural growers may struggle with complex interfaces. -&gt; Mitigation: Voice-assisted Ask Kisan AI Copilot in Hindi/Hinglish, icon-driven interface, and 1-tap camera inspection.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Quality Dispute on Delivery: </a:t>
            </a:r>
            <a:r>
              <a:rPr sz="1000" b="0">
                <a:solidFill>
                  <a:srgbClr val="1A202C"/>
                </a:solidFill>
                <a:latin typeface="Calibri"/>
              </a:rPr>
              <a:t>Risk: Buyer rejecting produce lot on delivery. -&gt; Mitigation: Multimodal Gemini AI certifies ripeness, firmness, and defect score with tamper-proof photo certificates embedded into the digital order.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Cold-Chain Logistics Disruption: </a:t>
            </a:r>
            <a:r>
              <a:rPr sz="1000" b="0">
                <a:solidFill>
                  <a:srgbClr val="1A202C"/>
                </a:solidFill>
                <a:latin typeface="Calibri"/>
              </a:rPr>
              <a:t>Risk: Perishable spoilage from transit bottlenecks. -&gt; Mitigation: Intelligent milk-run route pooling across nearby farms with live GPS telemetry monitoring reefer temperature (+3.8°C).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NexGen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IMPACT AND VALUE CREATION (ADDRESSING PS 26033)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9728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50" b="1">
                <a:solidFill>
                  <a:srgbClr val="166534"/>
                </a:solidFill>
                <a:latin typeface="Arial"/>
              </a:rPr>
              <a:t>• Impact on Target Audience (Farmers): </a:t>
            </a:r>
            <a:r>
              <a:rPr sz="1050" b="0">
                <a:solidFill>
                  <a:srgbClr val="1A202C"/>
                </a:solidFill>
                <a:latin typeface="Calibri"/>
              </a:rPr>
              <a:t>Increases farmer earnings from 25%–35% to 75%–85% of retail value; completely eliminates arbitrary cuts, delayed payments, and commission extortion.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Impact on Consumers &amp; Buyers: </a:t>
            </a:r>
            <a:r>
              <a:rPr sz="1050" b="0">
                <a:solidFill>
                  <a:srgbClr val="1A202C"/>
                </a:solidFill>
                <a:latin typeface="Calibri"/>
              </a:rPr>
              <a:t>Commercial buyers &amp; consumers pay 15%–20% less by skipping 4–7 intermediary markups, with guaranteed Grade A quality assurance.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66534"/>
                </a:solidFill>
                <a:latin typeface="Arial"/>
              </a:rPr>
              <a:t>• Social &amp; Environmental Benefits: </a:t>
            </a:r>
            <a:r>
              <a:rPr sz="1050" b="0">
                <a:solidFill>
                  <a:srgbClr val="1A202C"/>
                </a:solidFill>
                <a:latin typeface="Calibri"/>
              </a:rPr>
              <a:t>Strengthens FPO collective bargaining power, cuts duplicate transit travel by 18 km per route, and prevents 22 kg of heat spoilage (aligns with UN SDG 2 &amp; 12).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NexGen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5_impact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91840"/>
            <a:ext cx="10789920" cy="386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1600" b="1">
                <a:solidFill>
                  <a:srgbClr val="0F4C2A"/>
                </a:solidFill>
                <a:latin typeface="Arial"/>
              </a:rPr>
              <a:t>RESEARCH BACKING, FIELD REFERENCES &amp; VERIFIED REPOSITORIES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060704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50" b="1">
                <a:solidFill>
                  <a:srgbClr val="0F4C2A"/>
                </a:solidFill>
                <a:latin typeface="Arial"/>
              </a:rPr>
              <a:t>1. Government Reports &amp; Economic Policy Studies: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NITI Aayog Policy Report: </a:t>
            </a:r>
            <a:r>
              <a:rPr sz="1000" b="0">
                <a:solidFill>
                  <a:srgbClr val="1A202C"/>
                </a:solidFill>
                <a:latin typeface="Calibri"/>
              </a:rPr>
              <a:t>Strategies on 'Doubling Farmers Income' highlighting the urgent need to bridge the farm-to-fork gap and empower FPO-driven direct retail linkages.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Ministry of Agriculture &amp; Farmers Welfare (MoA&amp;FW) CIPHET Study: </a:t>
            </a:r>
            <a:r>
              <a:rPr sz="1000" b="0">
                <a:solidFill>
                  <a:srgbClr val="1A202C"/>
                </a:solidFill>
                <a:latin typeface="Calibri"/>
              </a:rPr>
              <a:t>Documenting post-harvest perishable agricultural losses of ~₹92,651 Crore annually due to multi-hop transit delays.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AGMARKNET &amp; e-NAM Price Repositories: </a:t>
            </a:r>
            <a:r>
              <a:rPr sz="1000" b="0">
                <a:solidFill>
                  <a:srgbClr val="1A202C"/>
                </a:solidFill>
                <a:latin typeface="Calibri"/>
              </a:rPr>
              <a:t>Official benchmark datasets for mandi arrival volumes and retail price spreads in Sonipat, Azadpur, and Delhi-NCR corridors.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50" b="1">
                <a:solidFill>
                  <a:srgbClr val="0F4C2A"/>
                </a:solidFill>
                <a:latin typeface="Arial"/>
              </a:rPr>
              <a:t>2. Technological Research &amp; Prototype Repositories: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Google Gemini Multimodal Technical Documentation: </a:t>
            </a:r>
            <a:r>
              <a:rPr sz="1000" b="0">
                <a:solidFill>
                  <a:srgbClr val="1A202C"/>
                </a:solidFill>
                <a:latin typeface="Calibri"/>
              </a:rPr>
              <a:t>Research on zero-shot visual inspection, RGB colorimetry for crop ripeness grading, and edge-assisted LLM reasoning.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OpenStreetMap &amp; Leaflet Geospatial Research: </a:t>
            </a:r>
            <a:r>
              <a:rPr sz="1000" b="0">
                <a:solidFill>
                  <a:srgbClr val="1A202C"/>
                </a:solidFill>
                <a:latin typeface="Calibri"/>
              </a:rPr>
              <a:t>Vehicle Routing Problem (VRP) algorithms applied to agricultural milk-run consolidation and cold-chain temperature preservation.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66534"/>
                </a:solidFill>
                <a:latin typeface="Arial"/>
              </a:rPr>
              <a:t>• Working Prototype &amp; Codebase Repository: </a:t>
            </a:r>
            <a:r>
              <a:rPr sz="1000" b="0">
                <a:solidFill>
                  <a:srgbClr val="1A202C"/>
                </a:solidFill>
                <a:latin typeface="Calibri"/>
              </a:rPr>
              <a:t>https://github.com/varuns47866-creator/kisan-setu | Deployed live on Render web service.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NexGen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